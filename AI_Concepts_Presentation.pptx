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8229600" cx="14630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5SCUXv4C7kTN0yYvTmjPnKvIO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e45618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de45618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a9b13d2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aa9b13d2b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a9b13d2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aa9b13d2b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b8808d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b8808d8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c51d119e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ac51d119e1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c51d119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ac51d119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147af3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ae147af33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AI</a:t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743200" y="2194560"/>
            <a:ext cx="9601200" cy="420624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Artificial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Intelligence: is a technology that enables computers to simulate human intelligence, allowing them to learn, reason &amp; perform tasks from data and patterns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Capabilities: AI can analyse data , understand human language , generate automation code etc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1371600" y="7269480"/>
            <a:ext cx="70866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de45618c2_0_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ade45618c2_0_0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ade45618c2_0_0"/>
          <p:cNvSpPr/>
          <p:nvPr/>
        </p:nvSpPr>
        <p:spPr>
          <a:xfrm>
            <a:off x="320040" y="20116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05" name="Google Shape;105;g3ade45618c2_0_0"/>
          <p:cNvSpPr/>
          <p:nvPr/>
        </p:nvSpPr>
        <p:spPr>
          <a:xfrm>
            <a:off x="320040" y="26974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06" name="Google Shape;106;g3ade45618c2_0_0"/>
          <p:cNvSpPr/>
          <p:nvPr/>
        </p:nvSpPr>
        <p:spPr>
          <a:xfrm>
            <a:off x="320040" y="33832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07" name="Google Shape;107;g3ade45618c2_0_0"/>
          <p:cNvSpPr/>
          <p:nvPr/>
        </p:nvSpPr>
        <p:spPr>
          <a:xfrm>
            <a:off x="320040" y="40690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08" name="Google Shape;108;g3ade45618c2_0_0"/>
          <p:cNvSpPr/>
          <p:nvPr/>
        </p:nvSpPr>
        <p:spPr>
          <a:xfrm>
            <a:off x="320040" y="47548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109" name="Google Shape;109;g3ade45618c2_0_0"/>
          <p:cNvSpPr/>
          <p:nvPr/>
        </p:nvSpPr>
        <p:spPr>
          <a:xfrm>
            <a:off x="320040" y="5440680"/>
            <a:ext cx="1737300" cy="41160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110" name="Google Shape;110;g3ade45618c2_0_0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AI</a:t>
            </a:r>
            <a:endParaRPr/>
          </a:p>
        </p:txBody>
      </p:sp>
      <p:sp>
        <p:nvSpPr>
          <p:cNvPr id="111" name="Google Shape;111;g3ade45618c2_0_0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The concept of </a:t>
            </a:r>
            <a:r>
              <a:rPr b="1" lang="en-US" sz="2000">
                <a:solidFill>
                  <a:schemeClr val="lt1"/>
                </a:solidFill>
              </a:rPr>
              <a:t>"advanced chess"</a:t>
            </a:r>
            <a:r>
              <a:rPr lang="en-US" sz="2000">
                <a:solidFill>
                  <a:schemeClr val="lt1"/>
                </a:solidFill>
              </a:rPr>
              <a:t> (also called </a:t>
            </a:r>
            <a:r>
              <a:rPr b="1" lang="en-US" sz="2000">
                <a:solidFill>
                  <a:schemeClr val="lt1"/>
                </a:solidFill>
              </a:rPr>
              <a:t>cyborg or centaur chess</a:t>
            </a:r>
            <a:r>
              <a:rPr lang="en-US" sz="2000">
                <a:solidFill>
                  <a:schemeClr val="lt1"/>
                </a:solidFill>
              </a:rPr>
              <a:t>) was introduced by Garry Kasparov following his historic 1997 defeat to IBM's supercomputer Deep Blue. The idea was born from his realization that rather than human vs. machine competition, a human-machine partnership could achieve unprecedented levels of play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12" name="Google Shape;112;g3ade45618c2_0_0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13" name="Google Shape;113;g3ade45618c2_0_0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ade45618c2_0_0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115" name="Google Shape;115;g3ade45618c2_0_0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💬 What is a Large Language Model?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Type of </a:t>
            </a:r>
            <a:r>
              <a:rPr lang="en-US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artificial</a:t>
            </a:r>
            <a:r>
              <a:rPr lang="en-US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 intelligence that understand, generates &amp; process human language by learning from vast data</a:t>
            </a: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743200" y="2194560"/>
            <a:ext cx="4389120" cy="2103120"/>
          </a:xfrm>
          <a:prstGeom prst="roundRect">
            <a:avLst>
              <a:gd fmla="val 16667" name="adj"/>
            </a:avLst>
          </a:prstGeom>
          <a:solidFill>
            <a:srgbClr val="6AA0FF"/>
          </a:solidFill>
          <a:ln cap="flat" cmpd="sng" w="9525">
            <a:solidFill>
              <a:srgbClr val="6AA0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GPT-4.1 Turbo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OpenAI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Capacity: ~1.8T params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Use cases: coding • agents • copilots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498079" y="2194560"/>
            <a:ext cx="4389120" cy="2103120"/>
          </a:xfrm>
          <a:prstGeom prst="roundRect">
            <a:avLst>
              <a:gd fmla="val 16667" name="adj"/>
            </a:avLst>
          </a:prstGeom>
          <a:solidFill>
            <a:srgbClr val="57C5B6"/>
          </a:solidFill>
          <a:ln cap="flat" cmpd="sng" w="9525">
            <a:solidFill>
              <a:srgbClr val="57C5B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Claude 3.5 Opus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Capacity: ~2.0T params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Use cases: coding • agents • copilots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0" y="4572000"/>
            <a:ext cx="4389120" cy="2103120"/>
          </a:xfrm>
          <a:prstGeom prst="roundRect">
            <a:avLst>
              <a:gd fmla="val 16667" name="adj"/>
            </a:avLst>
          </a:prstGeom>
          <a:solidFill>
            <a:srgbClr val="9081E8"/>
          </a:solidFill>
          <a:ln cap="flat" cmpd="sng" w="9525">
            <a:solidFill>
              <a:srgbClr val="9081E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Gemini 1.5 Ultra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Capacity: ~1.6T params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Use cases: coding • agents • copilots</a:t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7498079" y="4572000"/>
            <a:ext cx="4389120" cy="2103120"/>
          </a:xfrm>
          <a:prstGeom prst="roundRect">
            <a:avLst>
              <a:gd fmla="val 16667" name="adj"/>
            </a:avLst>
          </a:prstGeom>
          <a:solidFill>
            <a:srgbClr val="FF8A80"/>
          </a:solidFill>
          <a:ln cap="flat" cmpd="sng" w="9525">
            <a:solidFill>
              <a:srgbClr val="FF8A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Llama 3.1 405B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Capacity: 405B params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Use cases: coding • agents • copilots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743200" y="6949440"/>
            <a:ext cx="4389120" cy="2103120"/>
          </a:xfrm>
          <a:prstGeom prst="roundRect">
            <a:avLst>
              <a:gd fmla="val 16667" name="adj"/>
            </a:avLst>
          </a:prstGeom>
          <a:solidFill>
            <a:srgbClr val="FFC15E"/>
          </a:solidFill>
          <a:ln cap="flat" cmpd="sng" w="9525">
            <a:solidFill>
              <a:srgbClr val="FFC1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Mistral Large 2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Mistral AI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Capacity: ~123B params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Use cases: coding • agents • copilots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7 / 24 • 29%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371600" y="7269480"/>
            <a:ext cx="82677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Retrieval Augmented Generation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Blend vector search with LLM decoding to ground answers in enterprise knowledge.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743200" y="2194560"/>
            <a:ext cx="9601200" cy="4206240"/>
          </a:xfrm>
          <a:prstGeom prst="roundRect">
            <a:avLst>
              <a:gd fmla="val 16667" name="adj"/>
            </a:avLst>
          </a:prstGeom>
          <a:solidFill>
            <a:srgbClr val="28214E"/>
          </a:solidFill>
          <a:ln cap="flat" cmpd="sng" w="9525">
            <a:solidFill>
              <a:srgbClr val="2821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Data → Chunk &amp; Embed → Vector DB → Retrieval → Prompt Assembly → LLM Generation → Feedback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• Document loaders: PDFs, SQL, APIs, tickets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• Embeddings: text-embedding-3-large, Cohere, Voyage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• Retrievers: similarity, MMR, hybrid keyword + dense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• Guardrails: citations, confidence scores, hallucination checks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8 / 24 • 33%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371600" y="7269480"/>
            <a:ext cx="944879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✨ Generative AI Modalities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Text ↔ Image ↔ Audio ↔ Video ↔ Code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Diffusion • Autoregressive • Flow matching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2743200" y="219456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372D6E"/>
          </a:solidFill>
          <a:ln cap="flat" cmpd="sng" w="9525">
            <a:solidFill>
              <a:srgbClr val="372D6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🎨 Content Studio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Marketing copy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Campaign personalization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AI Assistants</a:t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7680960" y="219456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412D7D"/>
          </a:solidFill>
          <a:ln cap="flat" cmpd="sng" w="9525">
            <a:solidFill>
              <a:srgbClr val="412D7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🎨 Design Lab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Text-to-image boards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Brand-safe variations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3D asset drafting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2743200" y="457200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4B2D8C"/>
          </a:solidFill>
          <a:ln cap="flat" cmpd="sng" w="9525">
            <a:solidFill>
              <a:srgbClr val="4B2D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🎨 Voice &amp; Audio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Cloned voices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Call center copilots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Music stems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7680960" y="457200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552D9B"/>
          </a:solidFill>
          <a:ln cap="flat" cmpd="sng" w="9525">
            <a:solidFill>
              <a:srgbClr val="552D9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🎨 Video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Storyboard -&gt; video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Automatic B-roll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Synthetic avatars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9 / 24 • 37%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371600" y="7269480"/>
            <a:ext cx="106299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🔗 LangChain &amp;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Composability layer for chaining prompts, tools, memories, and agents.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743200" y="219456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2F245A"/>
          </a:solidFill>
          <a:ln cap="flat" cmpd="sng" w="9525">
            <a:solidFill>
              <a:srgbClr val="2F24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Core Primitives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Prompts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Tool calls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Output parsers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680960" y="219456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2F3873"/>
          </a:solidFill>
          <a:ln cap="flat" cmpd="sng" w="9525">
            <a:solidFill>
              <a:srgbClr val="2F38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Runnables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Composable streaming pipelines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Async + batch execution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2743200" y="457200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2F4C8C"/>
          </a:solidFill>
          <a:ln cap="flat" cmpd="sng" w="9525">
            <a:solidFill>
              <a:srgbClr val="2F4C8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Agents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OpenAI, ReAct, Tool-calling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Routing by intent &amp; metadata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7680960" y="4572000"/>
            <a:ext cx="4480560" cy="2103120"/>
          </a:xfrm>
          <a:prstGeom prst="roundRect">
            <a:avLst>
              <a:gd fmla="val 16667" name="adj"/>
            </a:avLst>
          </a:prstGeom>
          <a:solidFill>
            <a:srgbClr val="2F60A5"/>
          </a:solidFill>
          <a:ln cap="flat" cmpd="sng" w="9525">
            <a:solidFill>
              <a:srgbClr val="2F60A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🧩 Integrations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Vector stores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Observability (LangSmith)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Deployment (LangServe)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10 / 24 • 41%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371600" y="7269480"/>
            <a:ext cx="118110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🧠 Memory, Observability, &amp; Safety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Retain state, measure quality, and keep humans-in-the-loop.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2743200" y="2194560"/>
            <a:ext cx="4663440" cy="4206240"/>
          </a:xfrm>
          <a:prstGeom prst="roundRect">
            <a:avLst>
              <a:gd fmla="val 16667" name="adj"/>
            </a:avLst>
          </a:prstGeom>
          <a:solidFill>
            <a:srgbClr val="2B2250"/>
          </a:solidFill>
          <a:ln cap="flat" cmpd="sng" w="9525">
            <a:solidFill>
              <a:srgbClr val="2B22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🗂️ Memory Stack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Short-term: conversation buffer, windowed summary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Long-term: vector recalls, knowledge graphs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Episodic: task outcomes &amp; preferences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Tool-state: agent scratchpads, plan caching</a:t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7680960" y="2194560"/>
            <a:ext cx="4663440" cy="4206240"/>
          </a:xfrm>
          <a:prstGeom prst="roundRect">
            <a:avLst>
              <a:gd fmla="val 16667" name="adj"/>
            </a:avLst>
          </a:prstGeom>
          <a:solidFill>
            <a:srgbClr val="362860"/>
          </a:solidFill>
          <a:ln cap="flat" cmpd="sng" w="9525">
            <a:solidFill>
              <a:srgbClr val="36286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🛡️ Safety Dashboard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Policy filters (toxicity, PII, jailbreak detection)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Evaluation harnesses: automated rubrics + human review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Tracing &amp; observability: LangSmith, Weights &amp; Biases, Honeycomb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Feedback pipelines to fine-tune or adjust RAG context</a:t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11 / 24 • 45%</a:t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371600" y="7269480"/>
            <a:ext cx="129921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2743200" y="731520"/>
            <a:ext cx="9601200" cy="118872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🗺️ Enterprise AI Rollout Roadmap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Phased journey from discovery to scaling.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2743200" y="2194560"/>
            <a:ext cx="9601200" cy="4206240"/>
          </a:xfrm>
          <a:prstGeom prst="rect">
            <a:avLst/>
          </a:prstGeom>
          <a:solidFill>
            <a:srgbClr val="2A204B"/>
          </a:solidFill>
          <a:ln cap="flat" cmpd="sng" w="9525">
            <a:solidFill>
              <a:srgbClr val="2A204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Discover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Identify high-value use cases, data inventory, responsible AI guardrails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Prototype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Small LLM apps, evaluation harness, human feedback loops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Pilot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Integrate with live tools, add observability, run trust reviews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E1F5"/>
                </a:solidFill>
                <a:latin typeface="Calibri"/>
                <a:ea typeface="Calibri"/>
                <a:cs typeface="Calibri"/>
                <a:sym typeface="Calibri"/>
              </a:rPr>
              <a:t>Automate deployment, governance, continuous improvements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283464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Enterprise AI Roadmap</a:t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12 / 24 • 50%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1371600" y="7269480"/>
            <a:ext cx="141732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a9b13d2b6_0_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aa9b13d2b6_0_0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aa9b13d2b6_0_0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MCP</a:t>
            </a:r>
            <a:endParaRPr/>
          </a:p>
        </p:txBody>
      </p:sp>
      <p:sp>
        <p:nvSpPr>
          <p:cNvPr id="264" name="Google Shape;264;g3aa9b13d2b6_0_0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Centralized API hub , Ideally all the common tools will be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deployed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on One Server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 Agent uses same standard , we can say write once &amp; user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everywhere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aa9b13d2b6_0_0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MCP Server - Model Context Protocal</a:t>
            </a:r>
            <a:endParaRPr/>
          </a:p>
        </p:txBody>
      </p:sp>
      <p:sp>
        <p:nvSpPr>
          <p:cNvPr id="266" name="Google Shape;266;g3aa9b13d2b6_0_0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aa9b13d2b6_0_0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68" name="Google Shape;268;g3aa9b13d2b6_0_0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a9b13d2b6_0_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aa9b13d2b6_0_17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3aa9b13d2b6_0_17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AI Agent</a:t>
            </a:r>
            <a:endParaRPr/>
          </a:p>
        </p:txBody>
      </p:sp>
      <p:sp>
        <p:nvSpPr>
          <p:cNvPr id="276" name="Google Shape;276;g3aa9b13d2b6_0_17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Agent: is an LLM that can reason, use tools &amp; take actions on our behalf.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Travel Agent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aa9b13d2b6_0_17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endParaRPr/>
          </a:p>
        </p:txBody>
      </p:sp>
      <p:sp>
        <p:nvSpPr>
          <p:cNvPr id="278" name="Google Shape;278;g3aa9b13d2b6_0_17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aa9b13d2b6_0_17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80" name="Google Shape;280;g3aa9b13d2b6_0_17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b8808d8e6_0_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ab8808d8e6_0_0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ab8808d8e6_0_0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Prompt</a:t>
            </a:r>
            <a:endParaRPr/>
          </a:p>
        </p:txBody>
      </p:sp>
      <p:sp>
        <p:nvSpPr>
          <p:cNvPr id="288" name="Google Shape;288;g3ab8808d8e6_0_0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output from any AI depends on the context, Constraints &amp; clarity which we are providing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I want glasses, if it is a human  he will ask follow-up questions , where as an AI simply will give an adhoc answer in the background it hallucinate &amp; provide answers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Asking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appropriate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&amp; getting answers is the key thing which we does from google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ab8808d8e6_0_0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/>
          </a:p>
        </p:txBody>
      </p:sp>
      <p:sp>
        <p:nvSpPr>
          <p:cNvPr id="290" name="Google Shape;290;g3ab8808d8e6_0_0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ab8808d8e6_0_0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292" name="Google Shape;292;g3ab8808d8e6_0_0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c51d119e1_0_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ac51d119e1_0_11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ac51d119e1_0_11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Context File example</a:t>
            </a:r>
            <a:endParaRPr/>
          </a:p>
        </p:txBody>
      </p:sp>
      <p:sp>
        <p:nvSpPr>
          <p:cNvPr id="300" name="Google Shape;300;g3ac51d119e1_0_11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are an expert Senior QA Analyst in generating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manual test cases . You should follow each and every instructions mandatorily without fail: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INSTRUCTIONS: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shouldn’t hallucinate or make assumptions of any kind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MANDATORY: </a:t>
            </a:r>
            <a:r>
              <a:rPr lang="en-US" sz="1600">
                <a:solidFill>
                  <a:schemeClr val="lt1"/>
                </a:solidFill>
              </a:rPr>
              <a:t>Analyse complete Acceptance Criteria &amp; Description also the UI mockup attached 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lt1"/>
                </a:solidFill>
              </a:rPr>
              <a:t>MANDATORY: I don’t want security &amp; performance test cases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AutoNum type="arabicPeriod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MANDATORY: Considering E2E user journey , negative &amp; edge cases in most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elaborate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way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Your Task: Analyse the complete requirement for generating </a:t>
            </a: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functional test cases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b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Output rules ( Must follow): Create excel file which contains all generated Testcases, make sure it does has testcaseID, Test description, steps , Expected result , priority columns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ac51d119e1_0_11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/>
          </a:p>
        </p:txBody>
      </p:sp>
      <p:sp>
        <p:nvSpPr>
          <p:cNvPr id="302" name="Google Shape;302;g3ac51d119e1_0_11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ac51d119e1_0_11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304" name="Google Shape;304;g3ac51d119e1_0_11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c51d119e1_0_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ac51d119e1_0_0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ac51d119e1_0_0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Prompt</a:t>
            </a:r>
            <a:endParaRPr/>
          </a:p>
        </p:txBody>
      </p:sp>
      <p:sp>
        <p:nvSpPr>
          <p:cNvPr id="312" name="Google Shape;312;g3ac51d119e1_0_0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Zero-Shot prompting - No examples , AI guesses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Few-Shot prompting - Few examples for better output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Chain-Of-Thought prompting - Step by step reasoning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ac51d119e1_0_0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/>
          </a:p>
        </p:txBody>
      </p:sp>
      <p:sp>
        <p:nvSpPr>
          <p:cNvPr id="314" name="Google Shape;314;g3ac51d119e1_0_0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ac51d119e1_0_0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316" name="Google Shape;316;g3ac51d119e1_0_0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e147af334_0_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ae147af334_0_0"/>
          <p:cNvSpPr/>
          <p:nvPr/>
        </p:nvSpPr>
        <p:spPr>
          <a:xfrm>
            <a:off x="182880" y="457200"/>
            <a:ext cx="201180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ae147af334_0_0"/>
          <p:cNvSpPr/>
          <p:nvPr/>
        </p:nvSpPr>
        <p:spPr>
          <a:xfrm>
            <a:off x="2743200" y="731520"/>
            <a:ext cx="9601200" cy="118860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b="1" lang="en-US" sz="20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Overview on Models</a:t>
            </a:r>
            <a:endParaRPr/>
          </a:p>
        </p:txBody>
      </p:sp>
      <p:sp>
        <p:nvSpPr>
          <p:cNvPr id="324" name="Google Shape;324;g3ae147af334_0_0"/>
          <p:cNvSpPr/>
          <p:nvPr/>
        </p:nvSpPr>
        <p:spPr>
          <a:xfrm>
            <a:off x="2743200" y="2194560"/>
            <a:ext cx="9601200" cy="4206300"/>
          </a:xfrm>
          <a:prstGeom prst="rect">
            <a:avLst/>
          </a:prstGeom>
          <a:solidFill>
            <a:srgbClr val="251D44"/>
          </a:solidFill>
          <a:ln cap="flat" cmpd="sng" w="9525">
            <a:solidFill>
              <a:srgbClr val="251D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lt1"/>
                </a:solidFill>
              </a:rPr>
              <a:t>A digital brain that learns from data to solve problems, similar to how a student learns from textbooks and practice. </a:t>
            </a:r>
            <a:endParaRPr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ae147af334_0_0"/>
          <p:cNvSpPr txBox="1"/>
          <p:nvPr/>
        </p:nvSpPr>
        <p:spPr>
          <a:xfrm>
            <a:off x="2834640" y="228600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Models</a:t>
            </a:r>
            <a:endParaRPr/>
          </a:p>
        </p:txBody>
      </p:sp>
      <p:sp>
        <p:nvSpPr>
          <p:cNvPr id="326" name="Google Shape;326;g3ae147af334_0_0"/>
          <p:cNvSpPr/>
          <p:nvPr/>
        </p:nvSpPr>
        <p:spPr>
          <a:xfrm>
            <a:off x="274320" y="6766560"/>
            <a:ext cx="4206300" cy="100590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ae147af334_0_0"/>
          <p:cNvSpPr/>
          <p:nvPr/>
        </p:nvSpPr>
        <p:spPr>
          <a:xfrm>
            <a:off x="411480" y="6903720"/>
            <a:ext cx="822900" cy="82290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328" name="Google Shape;328;g3ae147af334_0_0"/>
          <p:cNvSpPr/>
          <p:nvPr/>
        </p:nvSpPr>
        <p:spPr>
          <a:xfrm>
            <a:off x="1371600" y="7269480"/>
            <a:ext cx="708600" cy="164700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15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82880" y="457200"/>
            <a:ext cx="2011680" cy="7315200"/>
          </a:xfrm>
          <a:prstGeom prst="roundRect">
            <a:avLst>
              <a:gd fmla="val 16667" name="adj"/>
            </a:avLst>
          </a:prstGeom>
          <a:solidFill>
            <a:srgbClr val="1A1233"/>
          </a:solidFill>
          <a:ln cap="flat" cmpd="sng" w="9525">
            <a:solidFill>
              <a:srgbClr val="1A123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20040" y="640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5631AC"/>
          </a:solidFill>
          <a:ln cap="flat" cmpd="sng" w="9525">
            <a:solidFill>
              <a:srgbClr val="5631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Welcome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320040" y="1325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 Anatomy</a:t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320040" y="2011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320040" y="26974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LLM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20040" y="33832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320040" y="40690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320040" y="47548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320040" y="5440680"/>
            <a:ext cx="1737360" cy="411480"/>
          </a:xfrm>
          <a:prstGeom prst="roundRect">
            <a:avLst>
              <a:gd fmla="val 16667" name="adj"/>
            </a:avLst>
          </a:prstGeom>
          <a:solidFill>
            <a:srgbClr val="37285C"/>
          </a:solidFill>
          <a:ln cap="flat" cmpd="sng" w="9525">
            <a:solidFill>
              <a:srgbClr val="3728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2743200" y="1371600"/>
            <a:ext cx="9601200" cy="5029200"/>
          </a:xfrm>
          <a:prstGeom prst="roundRect">
            <a:avLst>
              <a:gd fmla="val 16667" name="adj"/>
            </a:avLst>
          </a:prstGeom>
          <a:solidFill>
            <a:srgbClr val="241B46"/>
          </a:solidFill>
          <a:ln cap="flat" cmpd="sng" w="9525">
            <a:solidFill>
              <a:srgbClr val="241B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2834640" y="228600"/>
            <a:ext cx="594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274320" y="6766560"/>
            <a:ext cx="4206240" cy="1005840"/>
          </a:xfrm>
          <a:prstGeom prst="roundRect">
            <a:avLst>
              <a:gd fmla="val 16667" name="adj"/>
            </a:avLst>
          </a:prstGeom>
          <a:solidFill>
            <a:srgbClr val="231C3E"/>
          </a:solidFill>
          <a:ln cap="flat" cmpd="sng" w="9525">
            <a:solidFill>
              <a:srgbClr val="231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11480" y="6903720"/>
            <a:ext cx="822960" cy="822960"/>
          </a:xfrm>
          <a:prstGeom prst="ellipse">
            <a:avLst/>
          </a:prstGeom>
          <a:solidFill>
            <a:srgbClr val="786CD7"/>
          </a:solidFill>
          <a:ln cap="flat" cmpd="sng" w="9525">
            <a:solidFill>
              <a:srgbClr val="786C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1371600" y="681228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CCE6"/>
                </a:solidFill>
                <a:latin typeface="Calibri"/>
                <a:ea typeface="Calibri"/>
                <a:cs typeface="Calibri"/>
                <a:sym typeface="Calibri"/>
              </a:rPr>
              <a:t>Session Progress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0F2FF"/>
                </a:solidFill>
                <a:latin typeface="Calibri"/>
                <a:ea typeface="Calibri"/>
                <a:cs typeface="Calibri"/>
                <a:sym typeface="Calibri"/>
              </a:rPr>
              <a:t>13 / 24 • 54%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1371600" y="7269480"/>
            <a:ext cx="2834640" cy="164592"/>
          </a:xfrm>
          <a:prstGeom prst="rect">
            <a:avLst/>
          </a:prstGeom>
          <a:solidFill>
            <a:srgbClr val="463C78"/>
          </a:solidFill>
          <a:ln cap="flat" cmpd="sng" w="9525">
            <a:solidFill>
              <a:srgbClr val="463C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1371600" y="7269480"/>
            <a:ext cx="1535430" cy="164592"/>
          </a:xfrm>
          <a:prstGeom prst="rect">
            <a:avLst/>
          </a:prstGeom>
          <a:solidFill>
            <a:srgbClr val="EE5FBC"/>
          </a:solidFill>
          <a:ln cap="flat" cmpd="sng" w="9525">
            <a:solidFill>
              <a:srgbClr val="EE5FB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